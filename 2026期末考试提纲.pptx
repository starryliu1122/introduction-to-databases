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1" r:id="rId1"/>
  </p:sldMasterIdLst>
  <p:notesMasterIdLst>
    <p:notesMasterId r:id="rId16"/>
  </p:notesMasterIdLst>
  <p:handoutMasterIdLst>
    <p:handoutMasterId r:id="rId17"/>
  </p:handoutMasterIdLst>
  <p:sldIdLst>
    <p:sldId id="910" r:id="rId2"/>
    <p:sldId id="477" r:id="rId3"/>
    <p:sldId id="261" r:id="rId4"/>
    <p:sldId id="262" r:id="rId5"/>
    <p:sldId id="291" r:id="rId6"/>
    <p:sldId id="917" r:id="rId7"/>
    <p:sldId id="918" r:id="rId8"/>
    <p:sldId id="919" r:id="rId9"/>
    <p:sldId id="920" r:id="rId10"/>
    <p:sldId id="921" r:id="rId11"/>
    <p:sldId id="923" r:id="rId12"/>
    <p:sldId id="922" r:id="rId13"/>
    <p:sldId id="924" r:id="rId14"/>
    <p:sldId id="914" r:id="rId15"/>
  </p:sldIdLst>
  <p:sldSz cx="12192000" cy="6858000"/>
  <p:notesSz cx="6797675" cy="9928225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870" autoAdjust="0"/>
    <p:restoredTop sz="90929"/>
  </p:normalViewPr>
  <p:slideViewPr>
    <p:cSldViewPr>
      <p:cViewPr varScale="1">
        <p:scale>
          <a:sx n="59" d="100"/>
          <a:sy n="59" d="100"/>
        </p:scale>
        <p:origin x="624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27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26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2016" y="0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26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1814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26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2016" y="9431814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F1F3D589-EE1F-4CDB-9CAB-CD5A5C5657C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838858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2016" y="0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488" y="744538"/>
            <a:ext cx="661670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357" y="4715907"/>
            <a:ext cx="4984962" cy="4467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86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814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6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2016" y="9431814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811BA3A5-F493-49A2-9AC3-B0AE989CFAA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919570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4435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zh-CN" altLang="en-US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、 考试名称：数据库概论，考核方式：考试，考试类别：闭卷，考试日期：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20260623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，考试周：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，星期：二，考试时间：下午，预计考试人数：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133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，是否申请考场：是，教室：理教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310,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理教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309</a:t>
            </a:r>
            <a:endParaRPr lang="zh-CN" altLang="en-US" dirty="0">
              <a:ea typeface="宋体" charset="-122"/>
            </a:endParaRPr>
          </a:p>
        </p:txBody>
      </p:sp>
      <p:sp>
        <p:nvSpPr>
          <p:cNvPr id="27443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83B8F3B-24C5-4DBB-BD0D-A35B96F634E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itchFamily="34" charset="0"/>
              <a:ea typeface="宋体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03466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16388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954008C-F7B7-4DB2-8E2E-AC1048D53B5D}" type="slidenum">
              <a:rPr lang="en-US" altLang="zh-CN" smtClean="0"/>
              <a:pPr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057445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1741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C1F8FD7-86EF-4381-A669-F4E0B8FAAD41}" type="slidenum">
              <a:rPr lang="en-US" altLang="zh-CN" smtClean="0"/>
              <a:pPr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105318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1843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8DE77D-2F62-451D-820B-2DB440A05752}" type="slidenum">
              <a:rPr lang="en-US" altLang="zh-CN" smtClean="0"/>
              <a:pPr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24838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1843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8DE77D-2F62-451D-820B-2DB440A05752}" type="slidenum">
              <a:rPr lang="en-US" altLang="zh-CN" smtClean="0"/>
              <a:pPr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939008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1843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8DE77D-2F62-451D-820B-2DB440A05752}" type="slidenum">
              <a:rPr lang="en-US" altLang="zh-CN" smtClean="0"/>
              <a:pPr/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04216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1843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8DE77D-2F62-451D-820B-2DB440A05752}" type="slidenum">
              <a:rPr lang="en-US" altLang="zh-CN" smtClean="0"/>
              <a:pPr/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559492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1843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8DE77D-2F62-451D-820B-2DB440A05752}" type="slidenum">
              <a:rPr lang="en-US" altLang="zh-CN" smtClean="0"/>
              <a:pPr/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150028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1843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8DE77D-2F62-451D-820B-2DB440A05752}" type="slidenum">
              <a:rPr lang="en-US" altLang="zh-CN" smtClean="0"/>
              <a:pPr/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230682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1843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8DE77D-2F62-451D-820B-2DB440A05752}" type="slidenum">
              <a:rPr lang="en-US" altLang="zh-CN" smtClean="0"/>
              <a:pPr/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976715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1" y="2438401"/>
            <a:ext cx="12012084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2400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2400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2400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2400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2400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2400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2400"/>
            </a:p>
          </p:txBody>
        </p:sp>
      </p:grpSp>
      <p:sp>
        <p:nvSpPr>
          <p:cNvPr id="410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320800" y="18288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10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13208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4572000" y="6248400"/>
            <a:ext cx="38608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91440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6657BA5C-E8CF-479D-B98A-468C6616787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71506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5233"/>
            <a:ext cx="12192000" cy="913953"/>
          </a:xfrm>
          <a:solidFill>
            <a:schemeClr val="tx2">
              <a:lumMod val="75000"/>
            </a:schemeClr>
          </a:solidFill>
        </p:spPr>
        <p:txBody>
          <a:bodyPr anchor="ctr"/>
          <a:lstStyle>
            <a:lvl1pPr>
              <a:defRPr sz="4800">
                <a:solidFill>
                  <a:schemeClr val="bg1"/>
                </a:soli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980728"/>
            <a:ext cx="11635317" cy="56486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92781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03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3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3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73A0C6-7958-438C-94A4-978BD70CEC0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9235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4800" y="1295400"/>
            <a:ext cx="5715000" cy="533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23000" y="1295400"/>
            <a:ext cx="5717117" cy="533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03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3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03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994885-C44D-469F-90BE-589748E4B7A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9205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03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03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03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6FF2F8-B748-4C3A-BBE2-8910E7502ED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20418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03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03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3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2C95C9-390F-468D-96F5-C342F28C752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16613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3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03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03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211C7B-5E5E-4837-9380-4A7C14C1EA2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88045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03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3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03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C0A2ED-1B39-4F36-AE5C-F2E7C5D7BD4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30660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03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3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03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99CAD2-1885-4201-B781-4F7B888ADAE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83927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03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3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3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C1C89D-C9A8-4727-8BEF-EAB1BF8BB17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2823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031818" y="166688"/>
            <a:ext cx="2908300" cy="64627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1" y="166688"/>
            <a:ext cx="8523817" cy="64627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03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3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3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D450D6-8513-473F-B491-4872AE43710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258602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34585" y="166689"/>
            <a:ext cx="10390716" cy="7699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04800" y="1295400"/>
            <a:ext cx="5715000" cy="5334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23000" y="1295400"/>
            <a:ext cx="5717117" cy="5334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03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3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03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96B328-27B8-4001-A958-DC01780B3D7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8201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026"/>
          <p:cNvSpPr>
            <a:spLocks noChangeArrowheads="1"/>
          </p:cNvSpPr>
          <p:nvPr/>
        </p:nvSpPr>
        <p:spPr bwMode="ltGray">
          <a:xfrm>
            <a:off x="556684" y="274638"/>
            <a:ext cx="584200" cy="47466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 sz="2400">
              <a:ea typeface="宋体" pitchFamily="2" charset="-122"/>
            </a:endParaRPr>
          </a:p>
        </p:txBody>
      </p:sp>
      <p:sp>
        <p:nvSpPr>
          <p:cNvPr id="3075" name="Rectangle 1027"/>
          <p:cNvSpPr>
            <a:spLocks noChangeArrowheads="1"/>
          </p:cNvSpPr>
          <p:nvPr/>
        </p:nvSpPr>
        <p:spPr bwMode="ltGray">
          <a:xfrm>
            <a:off x="1066801" y="274638"/>
            <a:ext cx="438151" cy="47466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 sz="2400">
              <a:ea typeface="宋体" pitchFamily="2" charset="-122"/>
            </a:endParaRPr>
          </a:p>
        </p:txBody>
      </p:sp>
      <p:sp>
        <p:nvSpPr>
          <p:cNvPr id="3076" name="Rectangle 1028"/>
          <p:cNvSpPr>
            <a:spLocks noChangeArrowheads="1"/>
          </p:cNvSpPr>
          <p:nvPr/>
        </p:nvSpPr>
        <p:spPr bwMode="ltGray">
          <a:xfrm>
            <a:off x="721785" y="696913"/>
            <a:ext cx="563033" cy="474662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 sz="2400">
              <a:ea typeface="宋体" pitchFamily="2" charset="-122"/>
            </a:endParaRPr>
          </a:p>
        </p:txBody>
      </p:sp>
      <p:sp>
        <p:nvSpPr>
          <p:cNvPr id="3077" name="Rectangle 1029"/>
          <p:cNvSpPr>
            <a:spLocks noChangeArrowheads="1"/>
          </p:cNvSpPr>
          <p:nvPr/>
        </p:nvSpPr>
        <p:spPr bwMode="ltGray">
          <a:xfrm>
            <a:off x="1214967" y="696913"/>
            <a:ext cx="491067" cy="474662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 sz="2400">
              <a:ea typeface="宋体" pitchFamily="2" charset="-122"/>
            </a:endParaRPr>
          </a:p>
        </p:txBody>
      </p:sp>
      <p:sp>
        <p:nvSpPr>
          <p:cNvPr id="3078" name="Rectangle 1030"/>
          <p:cNvSpPr>
            <a:spLocks noChangeArrowheads="1"/>
          </p:cNvSpPr>
          <p:nvPr/>
        </p:nvSpPr>
        <p:spPr bwMode="ltGray">
          <a:xfrm>
            <a:off x="169333" y="623889"/>
            <a:ext cx="747184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 sz="2400">
              <a:ea typeface="宋体" pitchFamily="2" charset="-122"/>
            </a:endParaRPr>
          </a:p>
        </p:txBody>
      </p:sp>
      <p:sp>
        <p:nvSpPr>
          <p:cNvPr id="3079" name="Rectangle 1031"/>
          <p:cNvSpPr>
            <a:spLocks noChangeArrowheads="1"/>
          </p:cNvSpPr>
          <p:nvPr/>
        </p:nvSpPr>
        <p:spPr bwMode="gray">
          <a:xfrm>
            <a:off x="1016000" y="166688"/>
            <a:ext cx="42333" cy="1052512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 sz="2400">
              <a:ea typeface="宋体" pitchFamily="2" charset="-122"/>
            </a:endParaRPr>
          </a:p>
        </p:txBody>
      </p:sp>
      <p:sp>
        <p:nvSpPr>
          <p:cNvPr id="3080" name="Rectangle 1032"/>
          <p:cNvSpPr>
            <a:spLocks noChangeArrowheads="1"/>
          </p:cNvSpPr>
          <p:nvPr/>
        </p:nvSpPr>
        <p:spPr bwMode="gray">
          <a:xfrm>
            <a:off x="590551" y="957263"/>
            <a:ext cx="10968567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 sz="2400">
              <a:ea typeface="宋体" pitchFamily="2" charset="-122"/>
            </a:endParaRPr>
          </a:p>
        </p:txBody>
      </p:sp>
      <p:sp>
        <p:nvSpPr>
          <p:cNvPr id="3081" name="Rectangle 1033"/>
          <p:cNvSpPr>
            <a:spLocks noGrp="1" noChangeArrowheads="1"/>
          </p:cNvSpPr>
          <p:nvPr>
            <p:ph type="title"/>
          </p:nvPr>
        </p:nvSpPr>
        <p:spPr bwMode="auto">
          <a:xfrm>
            <a:off x="1534585" y="166689"/>
            <a:ext cx="10390716" cy="769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082" name="Rectangle 103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295400"/>
            <a:ext cx="11635317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083" name="Rectangle 103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219200" y="63246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4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84" name="Rectangle 103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470400" y="63246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4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85" name="Rectangle 103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42400" y="63246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>
                <a:ea typeface="宋体" pitchFamily="2" charset="-122"/>
              </a:defRPr>
            </a:lvl1pPr>
          </a:lstStyle>
          <a:p>
            <a:pPr>
              <a:defRPr/>
            </a:pPr>
            <a:fld id="{3F1C7A39-CAB9-4E57-A434-2CEF2D14CAB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1299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  <a:ea typeface="隶书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  <a:ea typeface="隶书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  <a:ea typeface="隶书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  <a:ea typeface="隶书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  <a:ea typeface="隶书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  <a:ea typeface="隶书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  <a:ea typeface="隶书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  <a:ea typeface="隶书" pitchFamily="49" charset="-122"/>
        </a:defRPr>
      </a:lvl9pPr>
    </p:titleStyle>
    <p:bodyStyle>
      <a:lvl1pPr marL="342900" indent="-342900" algn="just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kumimoji="1" sz="3200">
          <a:solidFill>
            <a:schemeClr val="folHlink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just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kumimoji="1" sz="2800">
          <a:solidFill>
            <a:srgbClr val="990033"/>
          </a:solidFill>
          <a:latin typeface="+mn-lt"/>
          <a:ea typeface="华文新魏" pitchFamily="2" charset="-122"/>
        </a:defRPr>
      </a:lvl2pPr>
      <a:lvl3pPr marL="1143000" indent="-228600" algn="just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kumimoji="1" sz="2400">
          <a:solidFill>
            <a:srgbClr val="9900CC"/>
          </a:solidFill>
          <a:latin typeface="+mn-lt"/>
          <a:ea typeface="华文新魏" pitchFamily="2" charset="-122"/>
        </a:defRPr>
      </a:lvl3pPr>
      <a:lvl4pPr marL="1600200" indent="-228600" algn="just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华文新魏" pitchFamily="2" charset="-122"/>
        </a:defRPr>
      </a:lvl4pPr>
      <a:lvl5pPr marL="2057400" indent="-228600" algn="just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华文新魏" pitchFamily="2" charset="-122"/>
        </a:defRPr>
      </a:lvl5pPr>
      <a:lvl6pPr marL="2514600" indent="-228600" algn="just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华文新魏" pitchFamily="2" charset="-122"/>
        </a:defRPr>
      </a:lvl6pPr>
      <a:lvl7pPr marL="2971800" indent="-228600" algn="just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华文新魏" pitchFamily="2" charset="-122"/>
        </a:defRPr>
      </a:lvl7pPr>
      <a:lvl8pPr marL="3429000" indent="-228600" algn="just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华文新魏" pitchFamily="2" charset="-122"/>
        </a:defRPr>
      </a:lvl8pPr>
      <a:lvl9pPr marL="3886200" indent="-228600" algn="just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华文新魏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14E7F8AB-EC73-44CF-9D92-893A1E94D63C}"/>
              </a:ext>
            </a:extLst>
          </p:cNvPr>
          <p:cNvSpPr/>
          <p:nvPr/>
        </p:nvSpPr>
        <p:spPr>
          <a:xfrm>
            <a:off x="0" y="-27384"/>
            <a:ext cx="12192000" cy="1323439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8000" b="0" i="0" u="none" strike="noStrike" kern="10" cap="none" spc="600" normalizeH="0" baseline="0" noProof="0" dirty="0">
                <a:ln w="0"/>
                <a:solidFill>
                  <a:schemeClr val="bg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期末考试提纲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3B832EB-3DA0-449F-8BDC-58D96FDA63C2}"/>
              </a:ext>
            </a:extLst>
          </p:cNvPr>
          <p:cNvSpPr txBox="1"/>
          <p:nvPr/>
        </p:nvSpPr>
        <p:spPr>
          <a:xfrm>
            <a:off x="2135560" y="1988840"/>
            <a:ext cx="8568952" cy="3674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b="1" i="0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考试日期：</a:t>
            </a:r>
            <a:r>
              <a:rPr lang="en-US" altLang="zh-CN" b="1" i="0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en-US" altLang="zh-CN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 b="1" i="0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06-23</a:t>
            </a:r>
            <a:r>
              <a:rPr lang="zh-CN" altLang="en-US" b="1" i="0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，星期二下午</a:t>
            </a:r>
            <a:endParaRPr lang="en-US" altLang="zh-CN" b="1" i="0" dirty="0">
              <a:solidFill>
                <a:srgbClr val="00206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b="1" i="0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考试地点：理教</a:t>
            </a:r>
            <a:r>
              <a:rPr lang="en-US" altLang="zh-CN" b="1" i="0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310</a:t>
            </a:r>
            <a:r>
              <a:rPr lang="zh-CN" altLang="en-US" b="1" i="0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、理教</a:t>
            </a:r>
            <a:r>
              <a:rPr lang="en-US" altLang="zh-CN" b="1" i="0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309</a:t>
            </a:r>
          </a:p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请学号在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2300012945</a:t>
            </a:r>
            <a:r>
              <a:rPr lang="zh-CN" altLang="en-US" b="1" i="0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之前的到</a:t>
            </a:r>
            <a:r>
              <a:rPr lang="en-US" altLang="zh-CN" b="1" i="0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310</a:t>
            </a:r>
            <a:r>
              <a:rPr lang="zh-CN" altLang="en-US" b="1" i="0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教室，之后的到</a:t>
            </a:r>
            <a:r>
              <a:rPr lang="en-US" altLang="zh-CN" b="1" i="0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309</a:t>
            </a:r>
            <a:r>
              <a:rPr lang="zh-CN" altLang="en-US" b="1" i="0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教室</a:t>
            </a:r>
            <a:endParaRPr lang="en-US" altLang="zh-CN" b="1" i="0" dirty="0">
              <a:solidFill>
                <a:srgbClr val="00206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（另外请同学们踊跃参与课程评价，对老师课堂授课，作业实习安排过程中存在的问题提出宝贵意见，谢谢！）</a:t>
            </a:r>
          </a:p>
        </p:txBody>
      </p:sp>
    </p:spTree>
    <p:extLst>
      <p:ext uri="{BB962C8B-B14F-4D97-AF65-F5344CB8AC3E}">
        <p14:creationId xmlns:p14="http://schemas.microsoft.com/office/powerpoint/2010/main" val="167700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第一章  数据库系统简介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351584" y="1268760"/>
            <a:ext cx="7272808" cy="5257800"/>
          </a:xfrm>
        </p:spPr>
        <p:txBody>
          <a:bodyPr/>
          <a:lstStyle/>
          <a:p>
            <a:pPr marL="720000" indent="-720000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什么是数据独立性？</a:t>
            </a:r>
            <a:endParaRPr lang="en-US" altLang="zh-CN" sz="2800" b="1" dirty="0">
              <a:solidFill>
                <a:srgbClr val="00206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0000" indent="-720000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文件系统在数据管理方面有哪些不足？</a:t>
            </a:r>
            <a:endParaRPr lang="en-US" altLang="zh-CN" sz="2800" b="1" dirty="0">
              <a:solidFill>
                <a:srgbClr val="00206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0000" indent="-720000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数据库系统在数据管理方面的特性</a:t>
            </a:r>
            <a:endParaRPr lang="en-US" altLang="zh-CN" sz="2800" b="1" dirty="0">
              <a:solidFill>
                <a:srgbClr val="00206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0000" indent="-720000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数据模型的概念、种类、特性比较</a:t>
            </a:r>
            <a:endParaRPr lang="en-US" altLang="zh-CN" sz="2800" b="1" dirty="0">
              <a:solidFill>
                <a:srgbClr val="00206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0000" indent="-720000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数据库模式：三级模式、两级映像</a:t>
            </a:r>
            <a:endParaRPr lang="en-US" altLang="zh-CN" sz="2800" b="1" dirty="0">
              <a:solidFill>
                <a:srgbClr val="00206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0000" indent="-720000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数据库是如何保证数据独立性的？</a:t>
            </a:r>
            <a:endParaRPr lang="en-US" altLang="zh-CN" sz="2800" b="1" dirty="0">
              <a:solidFill>
                <a:srgbClr val="00206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0000" indent="-720000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zh-CN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DBMS</a:t>
            </a:r>
            <a:r>
              <a:rPr lang="zh-CN" altLang="en-US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各项功能、</a:t>
            </a:r>
            <a:r>
              <a:rPr lang="en-US" altLang="zh-CN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DBA</a:t>
            </a:r>
            <a:r>
              <a:rPr lang="zh-CN" altLang="en-US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职责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第二章  实体</a:t>
            </a:r>
            <a:r>
              <a:rPr lang="en-US" altLang="zh-CN"/>
              <a:t>-</a:t>
            </a:r>
            <a:r>
              <a:rPr lang="zh-CN" altLang="en-US"/>
              <a:t>联系模型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02124" y="1196752"/>
            <a:ext cx="5787752" cy="52578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基本概念</a:t>
            </a:r>
          </a:p>
          <a:p>
            <a:pPr lvl="1" eaLnBrk="1" hangingPunct="1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实体、联系、属性</a:t>
            </a:r>
          </a:p>
          <a:p>
            <a:pPr lvl="1" eaLnBrk="1" hangingPunct="1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超码、候选码、主码</a:t>
            </a:r>
          </a:p>
          <a:p>
            <a:pPr lvl="1" eaLnBrk="1" hangingPunct="1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联系的种类、联系的势</a:t>
            </a:r>
          </a:p>
          <a:p>
            <a:pPr lvl="1" eaLnBrk="1" hangingPunct="1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弱实体、特化、概化、聚集</a:t>
            </a:r>
          </a:p>
          <a:p>
            <a:pPr eaLnBrk="1" hangingPunct="1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en-US" altLang="zh-CN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E-R</a:t>
            </a:r>
            <a:r>
              <a:rPr lang="zh-CN" altLang="en-US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图概念模型设计应用实例</a:t>
            </a:r>
          </a:p>
          <a:p>
            <a:pPr eaLnBrk="1" hangingPunct="1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en-US" altLang="zh-CN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E-R</a:t>
            </a:r>
            <a:r>
              <a:rPr lang="zh-CN" altLang="en-US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图和关系模式的相互转换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第三章  关系模型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7408" y="1020688"/>
            <a:ext cx="11017224" cy="5576664"/>
          </a:xfrm>
        </p:spPr>
        <p:txBody>
          <a:bodyPr/>
          <a:lstStyle/>
          <a:p>
            <a:pPr eaLnBrk="1" hangingPunct="1">
              <a:lnSpc>
                <a:spcPct val="200000"/>
              </a:lnSpc>
              <a:spcBef>
                <a:spcPts val="0"/>
              </a:spcBef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概念</a:t>
            </a:r>
          </a:p>
          <a:p>
            <a:pPr lvl="1" eaLnBrk="1" hangingPunct="1">
              <a:lnSpc>
                <a:spcPct val="200000"/>
              </a:lnSpc>
              <a:spcBef>
                <a:spcPts val="0"/>
              </a:spcBef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笛卡尔积、关系模型三要素、</a:t>
            </a: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关系模型的完整性</a:t>
            </a:r>
            <a:endParaRPr lang="en-US" altLang="zh-CN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200000"/>
              </a:lnSpc>
              <a:spcBef>
                <a:spcPts val="0"/>
              </a:spcBef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全关系系统的十二条准则</a:t>
            </a:r>
          </a:p>
          <a:p>
            <a:pPr eaLnBrk="1" hangingPunct="1">
              <a:lnSpc>
                <a:spcPct val="200000"/>
              </a:lnSpc>
              <a:spcBef>
                <a:spcPts val="0"/>
              </a:spcBef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关系运算</a:t>
            </a:r>
          </a:p>
          <a:p>
            <a:pPr lvl="1" eaLnBrk="1" hangingPunct="1">
              <a:lnSpc>
                <a:spcPct val="200000"/>
              </a:lnSpc>
              <a:spcBef>
                <a:spcPts val="0"/>
              </a:spcBef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选择、投影、更名、笛卡儿积、集合并、差、交、自然连接、除、外连接</a:t>
            </a:r>
            <a:endParaRPr lang="en-US" altLang="zh-CN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200000"/>
              </a:lnSpc>
              <a:spcBef>
                <a:spcPts val="0"/>
              </a:spcBef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能阅读元组和域关系验算表达式</a:t>
            </a:r>
          </a:p>
          <a:p>
            <a:pPr eaLnBrk="1" hangingPunct="1">
              <a:lnSpc>
                <a:spcPct val="200000"/>
              </a:lnSpc>
              <a:spcBef>
                <a:spcPts val="0"/>
              </a:spcBef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能用关系代数表达关系数据操作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第四章  </a:t>
            </a:r>
            <a:r>
              <a:rPr lang="en-US" altLang="zh-CN"/>
              <a:t>SQL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1424" y="1268760"/>
            <a:ext cx="10873208" cy="5288632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了解数据类型、表的定义</a:t>
            </a:r>
            <a:endParaRPr lang="en-US" altLang="zh-CN" sz="2800" b="1" dirty="0">
              <a:solidFill>
                <a:srgbClr val="00206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掌握各种索引的定义及其作用</a:t>
            </a:r>
            <a:endParaRPr lang="en-US" altLang="zh-CN" sz="2800" b="1" dirty="0">
              <a:solidFill>
                <a:srgbClr val="00206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掌握各种查询表达操作的含义</a:t>
            </a:r>
            <a:endParaRPr lang="en-US" altLang="zh-CN" sz="2800" b="1" dirty="0">
              <a:solidFill>
                <a:srgbClr val="00206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能用</a:t>
            </a:r>
            <a:r>
              <a:rPr lang="en-US" altLang="zh-CN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zh-CN" altLang="en-US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表达查询操作</a:t>
            </a:r>
            <a:endParaRPr lang="en-US" altLang="zh-CN" sz="2800" b="1" dirty="0">
              <a:solidFill>
                <a:srgbClr val="00206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表连接、分组聚集、集合、嵌套子查询，</a:t>
            </a: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null…</a:t>
            </a:r>
          </a:p>
          <a:p>
            <a:pPr lvl="1" eaLnBrk="1" hangingPunct="1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如果题目中有提示，对于复杂的查询可以使用游标或用</a:t>
            </a: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with</a:t>
            </a: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定义临时视图</a:t>
            </a:r>
            <a:endParaRPr lang="en-US" altLang="zh-CN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不考更新操作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第五章  完整性与安全性</a:t>
            </a:r>
            <a:endParaRPr lang="en-US" altLang="zh-CN" dirty="0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35360" y="2348880"/>
            <a:ext cx="11377264" cy="2664296"/>
          </a:xfrm>
        </p:spPr>
        <p:txBody>
          <a:bodyPr/>
          <a:lstStyle/>
          <a:p>
            <a:pPr marL="720000" indent="-720000" eaLnBrk="1" hangingPunct="1">
              <a:lnSpc>
                <a:spcPct val="150000"/>
              </a:lnSpc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服务器端脚本语言：主要掌握游标和触发器的定义</a:t>
            </a:r>
            <a:endParaRPr lang="en-US" altLang="zh-CN" b="1" dirty="0">
              <a:solidFill>
                <a:srgbClr val="00206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0000" indent="-720000" eaLnBrk="1" hangingPunct="1">
              <a:lnSpc>
                <a:spcPct val="150000"/>
              </a:lnSpc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完整性定义：约束级别、约束类型、约束检查、延迟约束</a:t>
            </a:r>
            <a:endParaRPr lang="en-US" altLang="zh-CN" b="1" dirty="0">
              <a:solidFill>
                <a:srgbClr val="00206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0000" indent="-720000" eaLnBrk="1" hangingPunct="1">
              <a:lnSpc>
                <a:spcPct val="150000"/>
              </a:lnSpc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安全性定义：角色、权限、统计数据库安全</a:t>
            </a:r>
          </a:p>
        </p:txBody>
      </p:sp>
    </p:spTree>
    <p:extLst>
      <p:ext uri="{BB962C8B-B14F-4D97-AF65-F5344CB8AC3E}">
        <p14:creationId xmlns:p14="http://schemas.microsoft.com/office/powerpoint/2010/main" val="2358230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第六章  多模态数据</a:t>
            </a:r>
            <a:endParaRPr lang="en-US" altLang="zh-CN" dirty="0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55840" y="2280252"/>
            <a:ext cx="2880320" cy="1609105"/>
          </a:xfrm>
        </p:spPr>
        <p:txBody>
          <a:bodyPr/>
          <a:lstStyle/>
          <a:p>
            <a:pPr marL="720000" indent="-720000" eaLnBrk="1" hangingPunct="1">
              <a:lnSpc>
                <a:spcPct val="150000"/>
              </a:lnSpc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递归查询</a:t>
            </a:r>
            <a:endParaRPr lang="en-US" altLang="zh-CN" b="1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0000" indent="-720000" eaLnBrk="1" hangingPunct="1">
              <a:lnSpc>
                <a:spcPct val="150000"/>
              </a:lnSpc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窗口函数</a:t>
            </a:r>
          </a:p>
        </p:txBody>
      </p:sp>
    </p:spTree>
    <p:extLst>
      <p:ext uri="{BB962C8B-B14F-4D97-AF65-F5344CB8AC3E}">
        <p14:creationId xmlns:p14="http://schemas.microsoft.com/office/powerpoint/2010/main" val="2813675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E2FCA6-027F-43B1-B682-051FBED04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第七章  关系规范化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BDBF7F-A62F-4D73-AFB6-DF50A1322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352" y="1052736"/>
            <a:ext cx="11665296" cy="5648672"/>
          </a:xfrm>
        </p:spPr>
        <p:txBody>
          <a:bodyPr/>
          <a:lstStyle/>
          <a:p>
            <a:pPr marL="720000" indent="-720000" eaLnBrk="1" hangingPunct="1">
              <a:lnSpc>
                <a:spcPct val="120000"/>
              </a:lnSpc>
              <a:spcBef>
                <a:spcPts val="12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数据异常包括哪些？</a:t>
            </a:r>
            <a:endParaRPr lang="en-US" altLang="zh-CN" sz="2400" b="1" dirty="0">
              <a:solidFill>
                <a:srgbClr val="00206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0000" indent="-720000" eaLnBrk="1" hangingPunct="1">
              <a:lnSpc>
                <a:spcPct val="120000"/>
              </a:lnSpc>
              <a:spcBef>
                <a:spcPts val="12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各种依赖：函数依赖、部分函数依赖、完全函数依赖、传递函数依赖、多值依赖</a:t>
            </a:r>
          </a:p>
          <a:p>
            <a:pPr marL="720000" indent="-720000" eaLnBrk="1" hangingPunct="1">
              <a:lnSpc>
                <a:spcPct val="120000"/>
              </a:lnSpc>
              <a:spcBef>
                <a:spcPts val="12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理解</a:t>
            </a:r>
            <a:r>
              <a:rPr lang="en-US" altLang="zh-CN" sz="24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1NF</a:t>
            </a:r>
            <a:r>
              <a:rPr lang="zh-CN" altLang="en-US" sz="24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2NF</a:t>
            </a:r>
            <a:r>
              <a:rPr lang="zh-CN" altLang="en-US" sz="24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3NF</a:t>
            </a:r>
            <a:r>
              <a:rPr lang="zh-CN" altLang="en-US" sz="24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BCNF</a:t>
            </a:r>
            <a:r>
              <a:rPr lang="zh-CN" altLang="en-US" sz="24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4NF</a:t>
            </a:r>
            <a:r>
              <a:rPr lang="zh-CN" altLang="en-US" sz="24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的概念</a:t>
            </a:r>
            <a:endParaRPr lang="en-US" altLang="zh-CN" sz="2400" b="1" dirty="0">
              <a:solidFill>
                <a:srgbClr val="00206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0000" indent="-720000" eaLnBrk="1" hangingPunct="1">
              <a:lnSpc>
                <a:spcPct val="120000"/>
              </a:lnSpc>
              <a:spcBef>
                <a:spcPts val="12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逻辑蕴含、</a:t>
            </a:r>
            <a:r>
              <a:rPr lang="en-US" altLang="zh-CN" sz="24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Armstrong</a:t>
            </a:r>
            <a:r>
              <a:rPr lang="zh-CN" altLang="en-US" sz="24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公理</a:t>
            </a:r>
            <a:endParaRPr lang="en-US" altLang="zh-CN" sz="2400" b="1" dirty="0">
              <a:solidFill>
                <a:srgbClr val="00206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0000" indent="-720000" eaLnBrk="1" hangingPunct="1">
              <a:lnSpc>
                <a:spcPct val="120000"/>
              </a:lnSpc>
              <a:spcBef>
                <a:spcPts val="12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属性集闭包及其计算，候选码计算，范式判定</a:t>
            </a:r>
            <a:endParaRPr lang="en-US" altLang="zh-CN" sz="2400" b="1" dirty="0">
              <a:solidFill>
                <a:srgbClr val="00206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0000" indent="-720000" eaLnBrk="1" hangingPunct="1">
              <a:lnSpc>
                <a:spcPct val="120000"/>
              </a:lnSpc>
              <a:spcBef>
                <a:spcPts val="12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函数依赖集等价性判定算法以及最小覆盖计算过程</a:t>
            </a:r>
            <a:endParaRPr lang="en-US" altLang="zh-CN" sz="2400" b="1" dirty="0">
              <a:solidFill>
                <a:srgbClr val="00206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0000" indent="-720000" eaLnBrk="1" hangingPunct="1">
              <a:lnSpc>
                <a:spcPct val="120000"/>
              </a:lnSpc>
              <a:spcBef>
                <a:spcPts val="12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关系模式分解的定义和目标，函数依赖集向属性集的投影</a:t>
            </a:r>
            <a:endParaRPr lang="en-US" altLang="zh-CN" sz="2400" b="1" dirty="0">
              <a:solidFill>
                <a:srgbClr val="00206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0000" indent="-720000" eaLnBrk="1" hangingPunct="1">
              <a:lnSpc>
                <a:spcPct val="120000"/>
              </a:lnSpc>
              <a:spcBef>
                <a:spcPts val="12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理解什么是无损连接分解以及保持函数依赖分解以及判定方法（对于无损分解，只需了解分解为两个子模式情况下的判定方法）</a:t>
            </a:r>
            <a:endParaRPr lang="en-US" altLang="zh-CN" sz="2400" b="1" dirty="0">
              <a:solidFill>
                <a:srgbClr val="00206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0000" indent="-720000" eaLnBrk="1" hangingPunct="1">
              <a:lnSpc>
                <a:spcPct val="120000"/>
              </a:lnSpc>
              <a:spcBef>
                <a:spcPts val="12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掌握保持函数依赖的</a:t>
            </a:r>
            <a:r>
              <a:rPr lang="en-US" altLang="zh-CN" sz="24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3NF</a:t>
            </a:r>
            <a:r>
              <a:rPr lang="zh-CN" altLang="en-US" sz="24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分解以及掌握保持无损连接的</a:t>
            </a:r>
            <a:r>
              <a:rPr lang="en-US" altLang="zh-CN" sz="24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BCNF</a:t>
            </a:r>
            <a:r>
              <a:rPr lang="zh-CN" altLang="en-US" sz="24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分解</a:t>
            </a:r>
          </a:p>
        </p:txBody>
      </p:sp>
    </p:spTree>
    <p:extLst>
      <p:ext uri="{BB962C8B-B14F-4D97-AF65-F5344CB8AC3E}">
        <p14:creationId xmlns:p14="http://schemas.microsoft.com/office/powerpoint/2010/main" val="2518496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第八章  事务</a:t>
            </a:r>
            <a:endParaRPr lang="en-US" altLang="zh-CN" dirty="0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83632" y="1268760"/>
            <a:ext cx="6264696" cy="5256584"/>
          </a:xfrm>
        </p:spPr>
        <p:txBody>
          <a:bodyPr/>
          <a:lstStyle/>
          <a:p>
            <a:pPr marL="720000" indent="-720000" eaLnBrk="1" hangingPunct="1">
              <a:lnSpc>
                <a:spcPct val="150000"/>
              </a:lnSpc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事务定义及事务的</a:t>
            </a:r>
            <a:r>
              <a:rPr lang="en-US" altLang="zh-CN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ACID</a:t>
            </a:r>
            <a:r>
              <a:rPr lang="zh-CN" altLang="en-US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特性</a:t>
            </a:r>
          </a:p>
          <a:p>
            <a:pPr marL="720000" indent="-720000" eaLnBrk="1" hangingPunct="1">
              <a:lnSpc>
                <a:spcPct val="150000"/>
              </a:lnSpc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可恢复调度、无级联调度</a:t>
            </a:r>
          </a:p>
          <a:p>
            <a:pPr marL="720000" indent="-720000" eaLnBrk="1" hangingPunct="1">
              <a:lnSpc>
                <a:spcPct val="150000"/>
              </a:lnSpc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调度中的四种数据不一致性</a:t>
            </a:r>
          </a:p>
          <a:p>
            <a:pPr marL="720000" indent="-720000" eaLnBrk="1" hangingPunct="1">
              <a:lnSpc>
                <a:spcPct val="150000"/>
              </a:lnSpc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zh-CN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zh-CN" altLang="en-US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中四个事务隔离性级别定义</a:t>
            </a:r>
          </a:p>
          <a:p>
            <a:pPr marL="720000" indent="-720000" eaLnBrk="1" hangingPunct="1">
              <a:lnSpc>
                <a:spcPct val="150000"/>
              </a:lnSpc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理解快照隔离的概念</a:t>
            </a:r>
          </a:p>
          <a:p>
            <a:pPr marL="720000" indent="-720000" eaLnBrk="1" hangingPunct="1">
              <a:lnSpc>
                <a:spcPct val="150000"/>
              </a:lnSpc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冲突可串行化及其判定</a:t>
            </a:r>
          </a:p>
          <a:p>
            <a:pPr marL="720000" indent="-720000" eaLnBrk="1" hangingPunct="1">
              <a:lnSpc>
                <a:spcPct val="150000"/>
              </a:lnSpc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视图可串行化及其判定</a:t>
            </a:r>
          </a:p>
          <a:p>
            <a:pPr marL="720000" indent="-720000" eaLnBrk="1" hangingPunct="1">
              <a:lnSpc>
                <a:spcPct val="150000"/>
              </a:lnSpc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zh-CN" altLang="en-US" sz="2800" b="1" dirty="0">
              <a:solidFill>
                <a:srgbClr val="00206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031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第九章  并发控制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9376" y="1340768"/>
            <a:ext cx="11233248" cy="5112568"/>
          </a:xfrm>
        </p:spPr>
        <p:txBody>
          <a:bodyPr/>
          <a:lstStyle/>
          <a:p>
            <a:pPr marL="720000" indent="-720000" eaLnBrk="1" hangingPunct="1">
              <a:lnSpc>
                <a:spcPct val="150000"/>
              </a:lnSpc>
              <a:spcBef>
                <a:spcPts val="12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各种封锁模式及其相容性：</a:t>
            </a:r>
            <a:r>
              <a:rPr lang="en-US" altLang="zh-CN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锁、</a:t>
            </a:r>
            <a:r>
              <a:rPr lang="en-US" altLang="zh-CN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锁、</a:t>
            </a:r>
            <a:r>
              <a:rPr lang="en-US" altLang="zh-CN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zh-CN" altLang="en-US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锁、</a:t>
            </a:r>
            <a:r>
              <a:rPr lang="en-US" altLang="zh-CN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IS</a:t>
            </a:r>
            <a:r>
              <a:rPr lang="zh-CN" altLang="en-US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锁、</a:t>
            </a:r>
            <a:r>
              <a:rPr lang="en-US" altLang="zh-CN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IX</a:t>
            </a:r>
            <a:r>
              <a:rPr lang="zh-CN" altLang="en-US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锁、</a:t>
            </a:r>
            <a:r>
              <a:rPr lang="en-US" altLang="zh-CN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SIX</a:t>
            </a:r>
            <a:r>
              <a:rPr lang="zh-CN" altLang="en-US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锁</a:t>
            </a:r>
          </a:p>
          <a:p>
            <a:pPr marL="720000" indent="-720000" eaLnBrk="1" hangingPunct="1">
              <a:lnSpc>
                <a:spcPct val="150000"/>
              </a:lnSpc>
              <a:spcBef>
                <a:spcPts val="12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两段锁协议内容及其作用</a:t>
            </a:r>
          </a:p>
          <a:p>
            <a:pPr marL="720000" indent="-720000" eaLnBrk="1" hangingPunct="1">
              <a:lnSpc>
                <a:spcPct val="150000"/>
              </a:lnSpc>
              <a:spcBef>
                <a:spcPts val="12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死锁及其解决措施</a:t>
            </a:r>
          </a:p>
          <a:p>
            <a:pPr marL="720000" indent="-720000" eaLnBrk="1" hangingPunct="1">
              <a:lnSpc>
                <a:spcPct val="150000"/>
              </a:lnSpc>
              <a:spcBef>
                <a:spcPts val="12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基于时间戳的并发控制协议</a:t>
            </a:r>
          </a:p>
          <a:p>
            <a:pPr marL="720000" indent="-720000" eaLnBrk="1" hangingPunct="1">
              <a:lnSpc>
                <a:spcPct val="150000"/>
              </a:lnSpc>
              <a:spcBef>
                <a:spcPts val="12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基于有效性检查的并发控制协议</a:t>
            </a:r>
          </a:p>
          <a:p>
            <a:pPr marL="720000" indent="-720000" eaLnBrk="1" hangingPunct="1">
              <a:lnSpc>
                <a:spcPct val="150000"/>
              </a:lnSpc>
              <a:spcBef>
                <a:spcPts val="12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zh-CN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MySQL MVCC</a:t>
            </a:r>
            <a:r>
              <a:rPr lang="zh-CN" altLang="en-US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中的读视图和可见性算法</a:t>
            </a:r>
          </a:p>
        </p:txBody>
      </p:sp>
    </p:spTree>
    <p:extLst>
      <p:ext uri="{BB962C8B-B14F-4D97-AF65-F5344CB8AC3E}">
        <p14:creationId xmlns:p14="http://schemas.microsoft.com/office/powerpoint/2010/main" val="34743318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第十章  恢复控制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27448" y="1196752"/>
            <a:ext cx="10009112" cy="5112568"/>
          </a:xfrm>
        </p:spPr>
        <p:txBody>
          <a:bodyPr/>
          <a:lstStyle/>
          <a:p>
            <a:pPr marL="720000" indent="-720000" eaLnBrk="1" hangingPunct="1">
              <a:lnSpc>
                <a:spcPct val="150000"/>
              </a:lnSpc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故障类型</a:t>
            </a:r>
          </a:p>
          <a:p>
            <a:pPr marL="720000" indent="-720000" eaLnBrk="1" hangingPunct="1">
              <a:lnSpc>
                <a:spcPct val="150000"/>
              </a:lnSpc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备份概念及其类型</a:t>
            </a:r>
          </a:p>
          <a:p>
            <a:pPr marL="720000" indent="-720000" eaLnBrk="1" hangingPunct="1">
              <a:lnSpc>
                <a:spcPct val="150000"/>
              </a:lnSpc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日志定义、事务类型及其恢复操作、先写日志的</a:t>
            </a:r>
            <a:r>
              <a:rPr lang="en-US" altLang="zh-CN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WAL</a:t>
            </a:r>
            <a:r>
              <a:rPr lang="zh-CN" altLang="en-US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原则</a:t>
            </a:r>
          </a:p>
          <a:p>
            <a:pPr marL="720000" indent="-720000" eaLnBrk="1" hangingPunct="1">
              <a:lnSpc>
                <a:spcPct val="150000"/>
              </a:lnSpc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检查点概念及其作用</a:t>
            </a:r>
          </a:p>
          <a:p>
            <a:pPr marL="720000" indent="-720000" eaLnBrk="1" hangingPunct="1">
              <a:lnSpc>
                <a:spcPct val="150000"/>
              </a:lnSpc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基本的故障恢复操作</a:t>
            </a:r>
          </a:p>
          <a:p>
            <a:pPr marL="720000" indent="-720000" eaLnBrk="1" hangingPunct="1">
              <a:lnSpc>
                <a:spcPct val="150000"/>
              </a:lnSpc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zh-CN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ARIES</a:t>
            </a:r>
            <a:r>
              <a:rPr lang="zh-CN" altLang="en-US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恢复算法所遵循的原则、所涉及到的重要数据结构、三个恢复阶段</a:t>
            </a:r>
          </a:p>
        </p:txBody>
      </p:sp>
    </p:spTree>
    <p:extLst>
      <p:ext uri="{BB962C8B-B14F-4D97-AF65-F5344CB8AC3E}">
        <p14:creationId xmlns:p14="http://schemas.microsoft.com/office/powerpoint/2010/main" val="759723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第十一章  数据库存储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99456" y="1880828"/>
            <a:ext cx="10153128" cy="3096344"/>
          </a:xfrm>
        </p:spPr>
        <p:txBody>
          <a:bodyPr/>
          <a:lstStyle/>
          <a:p>
            <a:pPr marL="720000" indent="-720000" eaLnBrk="1" hangingPunct="1">
              <a:lnSpc>
                <a:spcPct val="150000"/>
              </a:lnSpc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zh-CN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RAID1</a:t>
            </a:r>
            <a:r>
              <a:rPr lang="zh-CN" altLang="en-US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RAID5</a:t>
            </a:r>
            <a:r>
              <a:rPr lang="zh-CN" altLang="en-US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定义及其特性，所适用的数据库应用场合</a:t>
            </a:r>
          </a:p>
          <a:p>
            <a:pPr marL="720000" indent="-720000" eaLnBrk="1" hangingPunct="1">
              <a:lnSpc>
                <a:spcPct val="150000"/>
              </a:lnSpc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数据库的页结构和行结构</a:t>
            </a:r>
          </a:p>
          <a:p>
            <a:pPr marL="720000" indent="-720000" eaLnBrk="1" hangingPunct="1">
              <a:lnSpc>
                <a:spcPct val="150000"/>
              </a:lnSpc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zh-CN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LSM</a:t>
            </a:r>
            <a:r>
              <a:rPr lang="zh-CN" altLang="en-US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树、</a:t>
            </a:r>
            <a:r>
              <a:rPr lang="en-US" altLang="zh-CN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B+</a:t>
            </a:r>
            <a:r>
              <a:rPr lang="zh-CN" altLang="en-US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树</a:t>
            </a:r>
          </a:p>
          <a:p>
            <a:pPr marL="720000" indent="-720000" eaLnBrk="1" hangingPunct="1">
              <a:lnSpc>
                <a:spcPct val="150000"/>
              </a:lnSpc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位图索引、按列存储</a:t>
            </a:r>
          </a:p>
        </p:txBody>
      </p:sp>
    </p:spTree>
    <p:extLst>
      <p:ext uri="{BB962C8B-B14F-4D97-AF65-F5344CB8AC3E}">
        <p14:creationId xmlns:p14="http://schemas.microsoft.com/office/powerpoint/2010/main" val="41891115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1AE0DC-C7FF-4F1D-B575-4C3C2E1B8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第十二章  查询处理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EEE7E2-F80B-4A89-A5E5-8BDE121C34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3592" y="2348880"/>
            <a:ext cx="7848872" cy="1224136"/>
          </a:xfrm>
        </p:spPr>
        <p:txBody>
          <a:bodyPr/>
          <a:lstStyle/>
          <a:p>
            <a:pPr indent="-720000">
              <a:lnSpc>
                <a:spcPct val="200000"/>
              </a:lnSpc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三种连接算法的实现策略及各自适用场合</a:t>
            </a:r>
          </a:p>
        </p:txBody>
      </p:sp>
    </p:spTree>
    <p:extLst>
      <p:ext uri="{BB962C8B-B14F-4D97-AF65-F5344CB8AC3E}">
        <p14:creationId xmlns:p14="http://schemas.microsoft.com/office/powerpoint/2010/main" val="21112907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93FA46-DF93-4941-999C-AB47714AD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考试题型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94F21D-AE3E-4641-8186-546288B8E0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1544" y="1700808"/>
            <a:ext cx="7992888" cy="3888432"/>
          </a:xfrm>
        </p:spPr>
        <p:txBody>
          <a:bodyPr/>
          <a:lstStyle/>
          <a:p>
            <a:pPr marL="720000" indent="-720000">
              <a:lnSpc>
                <a:spcPct val="150000"/>
              </a:lnSpc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填空题 </a:t>
            </a:r>
            <a:r>
              <a:rPr lang="en-US" altLang="zh-CN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简答题：涵盖各章基础知识点</a:t>
            </a:r>
            <a:endParaRPr lang="en-US" altLang="zh-CN" sz="2800" b="1" dirty="0">
              <a:solidFill>
                <a:srgbClr val="00206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0000" indent="-720000">
              <a:lnSpc>
                <a:spcPct val="150000"/>
              </a:lnSpc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查询题：关系代数、</a:t>
            </a:r>
            <a:r>
              <a:rPr lang="en-US" altLang="zh-CN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</a:p>
          <a:p>
            <a:pPr marL="720000" indent="-720000">
              <a:lnSpc>
                <a:spcPct val="150000"/>
              </a:lnSpc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数据库设计题：</a:t>
            </a:r>
            <a:r>
              <a:rPr lang="en-US" altLang="zh-CN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ER</a:t>
            </a:r>
            <a:r>
              <a:rPr lang="zh-CN" altLang="en-US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模型、关系规范化</a:t>
            </a:r>
            <a:endParaRPr lang="en-US" altLang="zh-CN" sz="2800" b="1" dirty="0">
              <a:solidFill>
                <a:srgbClr val="00206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0000" indent="-720000">
              <a:lnSpc>
                <a:spcPct val="150000"/>
              </a:lnSpc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调度分析：隔离性与一致性、冲突与视图可串行化判定、各种并发控制协议</a:t>
            </a:r>
          </a:p>
        </p:txBody>
      </p:sp>
    </p:spTree>
    <p:extLst>
      <p:ext uri="{BB962C8B-B14F-4D97-AF65-F5344CB8AC3E}">
        <p14:creationId xmlns:p14="http://schemas.microsoft.com/office/powerpoint/2010/main" val="3005483196"/>
      </p:ext>
    </p:extLst>
  </p:cSld>
  <p:clrMapOvr>
    <a:masterClrMapping/>
  </p:clrMapOvr>
</p:sld>
</file>

<file path=ppt/theme/theme1.xml><?xml version="1.0" encoding="utf-8"?>
<a:theme xmlns:a="http://schemas.openxmlformats.org/drawingml/2006/main" name="1_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隶书"/>
        <a:cs typeface=""/>
      </a:majorFont>
      <a:minorFont>
        <a:latin typeface="Tahoma"/>
        <a:ea typeface="隶书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华文新魏" pitchFamily="2" charset="-122"/>
          </a:defRPr>
        </a:defPPr>
      </a:lstStyle>
    </a:spDef>
    <a:lnDef>
      <a:spPr bwMode="auto">
        <a:solidFill>
          <a:schemeClr val="accent1"/>
        </a:solidFill>
        <a:ln w="31750" cap="flat" cmpd="sng" algn="ctr">
          <a:solidFill>
            <a:schemeClr val="tx1"/>
          </a:solidFill>
          <a:prstDash val="solid"/>
          <a:miter lim="800000"/>
          <a:headEnd type="oval" w="med" len="med"/>
          <a:tailEnd type="none" w="med" len="med"/>
        </a:ln>
        <a:effectLst/>
      </a:spPr>
      <a:bodyPr/>
      <a:lstStyle/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D:\Program Files\Microsoft Office\Templates\Presentation Designs\Blends.pot</Template>
  <TotalTime>3318</TotalTime>
  <Words>790</Words>
  <Application>Microsoft Office PowerPoint</Application>
  <PresentationFormat>宽屏</PresentationFormat>
  <Paragraphs>99</Paragraphs>
  <Slides>14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0" baseType="lpstr">
      <vt:lpstr>隶书</vt:lpstr>
      <vt:lpstr>微软雅黑</vt:lpstr>
      <vt:lpstr>Tahoma</vt:lpstr>
      <vt:lpstr>Times New Roman</vt:lpstr>
      <vt:lpstr>Wingdings</vt:lpstr>
      <vt:lpstr>1_Blends</vt:lpstr>
      <vt:lpstr>PowerPoint 演示文稿</vt:lpstr>
      <vt:lpstr>第一章  数据库系统简介</vt:lpstr>
      <vt:lpstr>第二章  实体-联系模型</vt:lpstr>
      <vt:lpstr>第三章  关系模型</vt:lpstr>
      <vt:lpstr>第四章  SQL</vt:lpstr>
      <vt:lpstr>第五章  完整性与安全性</vt:lpstr>
      <vt:lpstr>第六章  多模态数据</vt:lpstr>
      <vt:lpstr>第七章  关系规范化</vt:lpstr>
      <vt:lpstr>第八章  事务</vt:lpstr>
      <vt:lpstr>第九章  并发控制</vt:lpstr>
      <vt:lpstr>第十章  恢复控制</vt:lpstr>
      <vt:lpstr>第十一章  数据库存储</vt:lpstr>
      <vt:lpstr>第十二章  查询处理</vt:lpstr>
      <vt:lpstr>考试题型</vt:lpstr>
    </vt:vector>
  </TitlesOfParts>
  <Company>北京大学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考研辅导班课程内容提纲</dc:title>
  <dc:creator>ljchen</dc:creator>
  <cp:lastModifiedBy>admin</cp:lastModifiedBy>
  <cp:revision>134</cp:revision>
  <dcterms:created xsi:type="dcterms:W3CDTF">2001-10-22T07:58:18Z</dcterms:created>
  <dcterms:modified xsi:type="dcterms:W3CDTF">2026-06-11T01:41:24Z</dcterms:modified>
</cp:coreProperties>
</file>